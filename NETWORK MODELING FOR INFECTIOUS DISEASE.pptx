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F86DBC-F32F-49BE-B0CE-B94502461C67}" type="datetimeFigureOut">
              <a:rPr lang="en-IN" smtClean="0"/>
              <a:t>22-06-2026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46E184B-6594-42F5-9B91-0B377E0EA2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08744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6E184B-6594-42F5-9B91-0B377E0EA2F2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89444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6E184B-6594-42F5-9B91-0B377E0EA2F2}" type="slidenum">
              <a:rPr lang="en-IN" smtClean="0"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13091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CE412-6AEA-55BE-9D33-07C8903A50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EEF7133-CD6C-8AEE-677D-42108E14A3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4736D8-25E7-30A3-2D54-C4FC7EA7F2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ECC23-A61F-4AC9-A286-24F1080FCE6A}" type="datetimeFigureOut">
              <a:rPr lang="en-IN" smtClean="0"/>
              <a:t>22-06-2026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98FCFB-8318-6826-4E40-BB220051AD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556712-0951-8B6C-AFF7-A7300709FB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70F0D-6C77-47A8-83CB-111E9E3367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56714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0DD5B5-154C-B4DA-A813-E53985E1F2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018C49-FA5A-E365-C707-723F32E7FF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0AAF34-CC55-68D0-5A76-CF859419B8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ECC23-A61F-4AC9-A286-24F1080FCE6A}" type="datetimeFigureOut">
              <a:rPr lang="en-IN" smtClean="0"/>
              <a:t>22-06-2026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886402-22CC-977F-BA48-BCFEB762E4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F5A698-CDFD-EF86-A59E-CE6771E7A2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70F0D-6C77-47A8-83CB-111E9E3367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22455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6A5AA-E978-1B77-7970-0DFD714180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E2F5F2-C47D-4109-D541-5CC5A9357C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1956A6-5480-C57F-7D9F-86E337E366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ECC23-A61F-4AC9-A286-24F1080FCE6A}" type="datetimeFigureOut">
              <a:rPr lang="en-IN" smtClean="0"/>
              <a:t>22-06-2026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77DF29-0586-E3A1-8FB1-927D32C4A5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F468E0-3949-EA2A-5CA0-E6DD3C03BB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70F0D-6C77-47A8-83CB-111E9E3367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24479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88E5AB-57A6-DC86-8424-B7AAD023C4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73B94F-39D9-EB41-F076-38A3AAD04E8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5BD87BE-7187-EFF2-E069-B7E5F2CA7C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AE807D-5E74-F2A8-594D-16B56625AF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ECC23-A61F-4AC9-A286-24F1080FCE6A}" type="datetimeFigureOut">
              <a:rPr lang="en-IN" smtClean="0"/>
              <a:t>22-06-2026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6E9F1A-B85D-10F9-9A06-663817002E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907D73-3ADE-AF38-99BF-7DC117BF60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70F0D-6C77-47A8-83CB-111E9E3367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87273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FFAB71-42C9-77E4-CD1E-D4B077CFD6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F72A20-F894-BD01-F293-043E4BB45E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FD7998-008E-584F-5AF0-4195FCCB7B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95E2009-5DD0-3F3C-EC82-5917CA7B5A0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C3001EA-E215-4528-09B3-A2D9602D666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260EA0-442C-7147-B373-40FE7829F0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ECC23-A61F-4AC9-A286-24F1080FCE6A}" type="datetimeFigureOut">
              <a:rPr lang="en-IN" smtClean="0"/>
              <a:t>22-06-2026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B76253A-D84E-8C09-E292-2EB9B6CD24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002ACE3-8FE5-87E4-2752-03F1A3FC86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70F0D-6C77-47A8-83CB-111E9E3367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62842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E2E61B-044B-2F9A-5E20-B3ED397DFD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D8077C6-071B-2092-A15F-E68B28F4EF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ECC23-A61F-4AC9-A286-24F1080FCE6A}" type="datetimeFigureOut">
              <a:rPr lang="en-IN" smtClean="0"/>
              <a:t>22-06-2026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29F9AE0-A411-6AC9-14B8-0B01041A63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F28F25-1061-3D5F-FB5D-A87984A056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70F0D-6C77-47A8-83CB-111E9E3367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1989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B0E3113-F7E6-8924-0EC2-0F8A06D49D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ECC23-A61F-4AC9-A286-24F1080FCE6A}" type="datetimeFigureOut">
              <a:rPr lang="en-IN" smtClean="0"/>
              <a:t>22-06-2026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E0D6F0-E88A-B77A-30F1-277ECDE96A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C01F1F-9344-E5DA-4B17-BFBE1A4F70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70F0D-6C77-47A8-83CB-111E9E3367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06943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4704DA-7509-7EF2-1312-A828F9FF4E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D3A6D9-EDB0-6C7E-395A-24EF1BE017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E83FB1-6234-FEA7-070E-501EC8C960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9112D5-5D0E-0F2B-BA28-5DCE08F6A2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ECC23-A61F-4AC9-A286-24F1080FCE6A}" type="datetimeFigureOut">
              <a:rPr lang="en-IN" smtClean="0"/>
              <a:t>22-06-2026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E6D86A-F12F-B550-EB93-53E44BC3F8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EA1F92-4FAE-7F9C-E7A8-8936A15E4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70F0D-6C77-47A8-83CB-111E9E3367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75539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55628F-DBED-F951-E7D4-B240A14854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E9D52F-A32A-9AE3-0543-798D4C0EBE2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F33AEC-A637-474C-9FC2-30BDBC6941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637063-83B3-17CB-57C6-53A52D263E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ECC23-A61F-4AC9-A286-24F1080FCE6A}" type="datetimeFigureOut">
              <a:rPr lang="en-IN" smtClean="0"/>
              <a:t>22-06-2026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682B55-D1FB-6BA3-2A24-E591CDAB80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ACFA03-457B-FA92-8CC6-C41DFCD50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70F0D-6C77-47A8-83CB-111E9E3367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29470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127C61-7D5C-40F6-5B87-F84BFDA32E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4A864F4-591A-AE63-45BC-058BF3390F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A9A275-5629-7A73-E90C-707C48F8F4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ECC23-A61F-4AC9-A286-24F1080FCE6A}" type="datetimeFigureOut">
              <a:rPr lang="en-IN" smtClean="0"/>
              <a:t>22-06-2026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6ACA7D-1ADB-ACA2-2F96-412D263B2F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D7352E-FD66-A83B-21E2-C3F88FD94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70F0D-6C77-47A8-83CB-111E9E3367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84729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DC809AF-6555-D54D-7D87-982311C3724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51AD2B-4FD5-0C65-08FD-2190718A5C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A6C02D-6247-CC8C-C3CA-859B96A338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ECC23-A61F-4AC9-A286-24F1080FCE6A}" type="datetimeFigureOut">
              <a:rPr lang="en-IN" smtClean="0"/>
              <a:t>22-06-2026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F54DD6-9F62-5649-DFCE-F852BC9055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9E82AB-1B99-437A-A7E0-7EB5AAC5FB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70F0D-6C77-47A8-83CB-111E9E3367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58238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2D264DE-954B-C9B7-D9B3-751430845E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69CDD9-1FD2-11D8-32EC-95E4786850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BEFA2D-A701-6585-EE0D-F0A59E84AE1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F8ECC23-A61F-4AC9-A286-24F1080FCE6A}" type="datetimeFigureOut">
              <a:rPr lang="en-IN" smtClean="0"/>
              <a:t>22-06-2026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27F3F5-23F2-D13F-8541-5AD067871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2B7420-C57D-C816-F19D-74845B0931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570F0D-6C77-47A8-83CB-111E9E3367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68174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AFC498-626C-F74D-3676-66E372CA296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IN" sz="4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 MODELING FOR </a:t>
            </a:r>
            <a:br>
              <a:rPr lang="en-IN" sz="4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4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INFECTIOUS DISEASE SPREAD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74DCB33-15B3-DDF9-7D44-8B3C6A3DAFF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IN" dirty="0"/>
              <a:t>Ankith Reddy </a:t>
            </a:r>
            <a:r>
              <a:rPr lang="en-IN" dirty="0" err="1"/>
              <a:t>Tumkunta</a:t>
            </a:r>
            <a:r>
              <a:rPr lang="en-IN" dirty="0"/>
              <a:t> </a:t>
            </a:r>
          </a:p>
          <a:p>
            <a:r>
              <a:rPr lang="en-IN" dirty="0"/>
              <a:t>Data science </a:t>
            </a:r>
          </a:p>
          <a:p>
            <a:r>
              <a:rPr lang="en-IN" dirty="0"/>
              <a:t>MSDS696 Practicum 1</a:t>
            </a:r>
          </a:p>
          <a:p>
            <a:r>
              <a:rPr lang="en-IN" dirty="0"/>
              <a:t>Regis University </a:t>
            </a:r>
          </a:p>
        </p:txBody>
      </p:sp>
    </p:spTree>
    <p:extLst>
      <p:ext uri="{BB962C8B-B14F-4D97-AF65-F5344CB8AC3E}">
        <p14:creationId xmlns:p14="http://schemas.microsoft.com/office/powerpoint/2010/main" val="38614720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9FF239-B97D-D5C0-2234-45EC13A80E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705" y="70158"/>
            <a:ext cx="10515600" cy="1325563"/>
          </a:xfrm>
        </p:spPr>
        <p:txBody>
          <a:bodyPr/>
          <a:lstStyle/>
          <a:p>
            <a:r>
              <a:rPr lang="en-IN" dirty="0"/>
              <a:t>INTRODUCTION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ED1F20-20C2-6F67-6DE4-06C3FCF0C0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8705" y="1469502"/>
            <a:ext cx="4608871" cy="4476852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Infectious diseases spread quickly.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Outbreaks create sudden medicine demand.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Disease mapping supports early planning.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Models support manufacturing decisions.</a:t>
            </a:r>
          </a:p>
        </p:txBody>
      </p:sp>
      <p:pic>
        <p:nvPicPr>
          <p:cNvPr id="4" name="Picture 3" descr="37,393 Outbreak Map Royalty-Free Images, Stock Photos &amp; Pictures |  Shutterstock">
            <a:extLst>
              <a:ext uri="{FF2B5EF4-FFF2-40B4-BE49-F238E27FC236}">
                <a16:creationId xmlns:a16="http://schemas.microsoft.com/office/drawing/2014/main" id="{CB1B4966-BFEF-C68D-11DD-06C692D9E9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0549" y="1395721"/>
            <a:ext cx="7921451" cy="3256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18486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160B92-7F2F-8A74-4FA6-B91B3F8323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IN" dirty="0"/>
              <a:t>PROBLEM STATEMENT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43A88E-B549-5C5A-D097-B57C7C1F10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690509"/>
            <a:ext cx="6103375" cy="3992357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COVID-19 showed preparedness gaps.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Infectious diseases spread suddenly.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Medicine demand can rise quickly.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Manufacturers need early warning.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Models can improve demand planning.</a:t>
            </a:r>
          </a:p>
        </p:txBody>
      </p:sp>
      <p:pic>
        <p:nvPicPr>
          <p:cNvPr id="4" name="Picture 3" descr="Modeling behaviors that spread disease | Stanford Report">
            <a:extLst>
              <a:ext uri="{FF2B5EF4-FFF2-40B4-BE49-F238E27FC236}">
                <a16:creationId xmlns:a16="http://schemas.microsoft.com/office/drawing/2014/main" id="{9029DF1F-712D-ED63-B820-5977FF3629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0542" y="1398017"/>
            <a:ext cx="5805995" cy="4982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58075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7E3ADD-CD54-19D0-3357-015620295D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8265" y="119319"/>
            <a:ext cx="10515600" cy="1325563"/>
          </a:xfrm>
        </p:spPr>
        <p:txBody>
          <a:bodyPr/>
          <a:lstStyle/>
          <a:p>
            <a:r>
              <a:rPr lang="en-IN" dirty="0"/>
              <a:t>DATA SOURCES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05B1F6-FEE5-A9A0-93F8-FB33DD7A3C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8265" y="1599483"/>
            <a:ext cx="5395452" cy="3906581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CDC: weekly disease records.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Census: county population data.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BEA: county income data.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 covers county-level patterns.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Sources support disease demand prediction.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E2D79DB-632F-3F3D-C6A9-C4A250969C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4673832"/>
              </p:ext>
            </p:extLst>
          </p:nvPr>
        </p:nvGraphicFramePr>
        <p:xfrm>
          <a:off x="5643717" y="2047285"/>
          <a:ext cx="6154994" cy="2013436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3077497">
                  <a:extLst>
                    <a:ext uri="{9D8B030D-6E8A-4147-A177-3AD203B41FA5}">
                      <a16:colId xmlns:a16="http://schemas.microsoft.com/office/drawing/2014/main" val="3238666839"/>
                    </a:ext>
                  </a:extLst>
                </a:gridCol>
                <a:gridCol w="3077497">
                  <a:extLst>
                    <a:ext uri="{9D8B030D-6E8A-4147-A177-3AD203B41FA5}">
                      <a16:colId xmlns:a16="http://schemas.microsoft.com/office/drawing/2014/main" val="498042856"/>
                    </a:ext>
                  </a:extLst>
                </a:gridCol>
              </a:tblGrid>
              <a:tr h="5033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Source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Used For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69151545"/>
                  </a:ext>
                </a:extLst>
              </a:tr>
              <a:tr h="5033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CDC-NNDSS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Disease activity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07180444"/>
                  </a:ext>
                </a:extLst>
              </a:tr>
              <a:tr h="5033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Census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Population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62578733"/>
                  </a:ext>
                </a:extLst>
              </a:tr>
              <a:tr h="5033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BEA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Income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705909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128935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47A001-788E-923D-0CC9-AC46739E3F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CLEANING AND MERGING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373AC3-FD00-0E36-0428-E00DEE6811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955" y="1776464"/>
            <a:ext cx="6064045" cy="4351338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Started with CDC disease data.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Removed high-missing columns.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Cleaned county and state names.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Prepared population and income data.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Merged CDC, Census, and BEA.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dataset: 725,787 rows.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446B1E1-1521-91F2-58C2-C4E42FCAE3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5382430"/>
              </p:ext>
            </p:extLst>
          </p:nvPr>
        </p:nvGraphicFramePr>
        <p:xfrm>
          <a:off x="5978012" y="2468773"/>
          <a:ext cx="6064046" cy="148336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3032023">
                  <a:extLst>
                    <a:ext uri="{9D8B030D-6E8A-4147-A177-3AD203B41FA5}">
                      <a16:colId xmlns:a16="http://schemas.microsoft.com/office/drawing/2014/main" val="318307032"/>
                    </a:ext>
                  </a:extLst>
                </a:gridCol>
                <a:gridCol w="3032023">
                  <a:extLst>
                    <a:ext uri="{9D8B030D-6E8A-4147-A177-3AD203B41FA5}">
                      <a16:colId xmlns:a16="http://schemas.microsoft.com/office/drawing/2014/main" val="41405479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Stage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Rows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963219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CDC raw data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1,840,440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795938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Merged dataset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1,079,478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208108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Final clean dataset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dirty="0"/>
                        <a:t>725,787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323020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508780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529094-14F5-9A7A-3C71-7803041BAA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PREPROCESSING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3EDF0D-BBE9-DA9B-9534-5AB2443383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0110" y="1690688"/>
            <a:ext cx="5533103" cy="4054065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cleaned merged dataset.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Removed zero infection records.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Grouped disease labels.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Selected high-burden diseases.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modeling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data: 174,042 rows.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6840F32-27FD-A711-D5A4-3AD0CFF03D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9708856"/>
              </p:ext>
            </p:extLst>
          </p:nvPr>
        </p:nvGraphicFramePr>
        <p:xfrm>
          <a:off x="5673213" y="2234360"/>
          <a:ext cx="6174658" cy="148336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3087329">
                  <a:extLst>
                    <a:ext uri="{9D8B030D-6E8A-4147-A177-3AD203B41FA5}">
                      <a16:colId xmlns:a16="http://schemas.microsoft.com/office/drawing/2014/main" val="3080229745"/>
                    </a:ext>
                  </a:extLst>
                </a:gridCol>
                <a:gridCol w="3087329">
                  <a:extLst>
                    <a:ext uri="{9D8B030D-6E8A-4147-A177-3AD203B41FA5}">
                      <a16:colId xmlns:a16="http://schemas.microsoft.com/office/drawing/2014/main" val="3397360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Step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dirty="0"/>
                        <a:t>Rows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467904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Clean merged dataset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725,787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962916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Non-zero infection data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333,028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656256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High-burden disease data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dirty="0"/>
                        <a:t>174,042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599911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63845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E16650-68BB-79F3-52A1-B201008CA4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110" y="158647"/>
            <a:ext cx="10515600" cy="1325563"/>
          </a:xfrm>
        </p:spPr>
        <p:txBody>
          <a:bodyPr/>
          <a:lstStyle/>
          <a:p>
            <a:r>
              <a:rPr lang="en-IN" dirty="0"/>
              <a:t>EXPLORATORY DATA ANALYSIS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C7E213-2375-2CC5-DDA3-B5FF9E3FE7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0110" y="1569987"/>
            <a:ext cx="5828071" cy="4351338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Infection values were highly skewed.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Most records had low activity.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Few counties showed large outbreaks.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Respiratory diseases appeared most often.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EDA supported log transformation.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43C2BB1-B988-AE19-BE18-338E6EDE58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8285" y="1286188"/>
            <a:ext cx="6173605" cy="5571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897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CED9B3-DC3C-ABD1-3FF0-BA162A4437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ENGINEERING 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41AF7391-FE86-854F-7795-3AAA975392E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44662695"/>
              </p:ext>
            </p:extLst>
          </p:nvPr>
        </p:nvGraphicFramePr>
        <p:xfrm>
          <a:off x="838200" y="1690688"/>
          <a:ext cx="10515600" cy="185420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3437514230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982287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Feature 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Created Features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237563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Encoded features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State, county, disease type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159161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Lag features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Lag 1, Lag 2, Lag 3, Lag 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574699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Seasonal features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Week sin, Week cos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69828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Numeric features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Population, income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37072186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F0468EAF-CAEB-382F-6649-75861A9D727D}"/>
              </a:ext>
            </a:extLst>
          </p:cNvPr>
          <p:cNvSpPr txBox="1"/>
          <p:nvPr/>
        </p:nvSpPr>
        <p:spPr>
          <a:xfrm>
            <a:off x="730046" y="3977899"/>
            <a:ext cx="6096000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Encoded disease and location values.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Created lag 1–4 features.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Added </a:t>
            </a:r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week_sin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week_cos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Scaled population and income.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Prepared data for model training.</a:t>
            </a:r>
          </a:p>
        </p:txBody>
      </p:sp>
    </p:spTree>
    <p:extLst>
      <p:ext uri="{BB962C8B-B14F-4D97-AF65-F5344CB8AC3E}">
        <p14:creationId xmlns:p14="http://schemas.microsoft.com/office/powerpoint/2010/main" val="19225882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4D01A3-8629-1D5A-D29E-D29700E447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80666"/>
            <a:ext cx="10515600" cy="1325563"/>
          </a:xfrm>
        </p:spPr>
        <p:txBody>
          <a:bodyPr>
            <a:norm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Gaussian Bayesian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A354D4-2842-9EBD-B705-063DBC7510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690688"/>
            <a:ext cx="5936226" cy="4351338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Inputs include disease, location, and week.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Population and income add context.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Lag features use past infection activity.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Bayesian Ridge predicted log infection activity.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Results: MAE 0.587, RMSE 0.760 , R² 0.708.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3239CDB-5B7F-22F2-76D8-6451BB0F89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6226" y="1182363"/>
            <a:ext cx="6008914" cy="5394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93670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475EB2-3A24-54DA-F03A-742DEF577F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94250"/>
            <a:ext cx="11523406" cy="662782"/>
          </a:xfrm>
        </p:spPr>
        <p:txBody>
          <a:bodyPr>
            <a:noAutofit/>
          </a:bodyPr>
          <a:lstStyle/>
          <a:p>
            <a:r>
              <a:rPr lang="en-IN" dirty="0"/>
              <a:t>Temporal Convolutional  Network (TCN)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57CFAB-B3E3-870F-88D1-5967A6FF0D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6814" y="1405373"/>
            <a:ext cx="5228303" cy="4351338"/>
          </a:xfrm>
        </p:spPr>
        <p:txBody>
          <a:bodyPr>
            <a:normAutofit fontScale="92500"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Inputs use weekly disease sequences.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Created cyclical encoding using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week_sin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&amp;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week_cos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TCN captures temporal infection patterns.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and Validation loss curves decreased prediction error overtime.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Results: MAE 0.548, RMSE 0.7136, R² 0.740.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555E4AE-7F5C-97C5-458A-768C6FAAF7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5191" y="1209188"/>
            <a:ext cx="6956809" cy="5154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2039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7C1DEF-B781-05F6-99DD-02BCEEDF6B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097" y="178312"/>
            <a:ext cx="10515600" cy="1325563"/>
          </a:xfrm>
        </p:spPr>
        <p:txBody>
          <a:bodyPr/>
          <a:lstStyle/>
          <a:p>
            <a:r>
              <a:rPr lang="en-IN" dirty="0"/>
              <a:t>Hybrid TCN–Spatial–GBN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5A41C6-C5D7-53EB-5CAF-56549002A8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097" y="1503875"/>
            <a:ext cx="4639983" cy="4351338"/>
          </a:xfrm>
        </p:spPr>
        <p:txBody>
          <a:bodyPr>
            <a:norm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Inputs use 52-week disease sequences.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Spatial lags add nearby county influence.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TCN learns long-term disease trends.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GBN branch models factor uncertainty.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Results: MAE 0.612, RMSE 0.8301, R² 0.591.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2E2B76B-D7B9-8DA4-E4B8-386860CCEF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8076" y="1188715"/>
            <a:ext cx="7260350" cy="4480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5716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4A8F4-7B8A-428C-01B4-357B39DDE0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768" y="64161"/>
            <a:ext cx="10515600" cy="1325563"/>
          </a:xfrm>
        </p:spPr>
        <p:txBody>
          <a:bodyPr/>
          <a:lstStyle/>
          <a:p>
            <a:r>
              <a:rPr lang="en-IN" dirty="0"/>
              <a:t>Model Performance Comparison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938ECE-7763-DB2A-F162-CF630018F5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4768" y="1779719"/>
            <a:ext cx="5400962" cy="4351338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TCN achieved best overall performance.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TCN had lowest MAE and RMSE.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TCN had highest R² score.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GBN was strong and interpretable.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Hybrid needs additional tuning.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127F114-A036-D226-A5A8-3A043B3357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5858" y="1468212"/>
            <a:ext cx="6079252" cy="5325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84829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1591AE-A170-77B1-8D58-0D16112C9A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Key Findings and Manufacturing Relevance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1C5EDA-D520-2054-66C3-88A755E646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Disease type, location and past infection spread were strongly influenced activity.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Past infection values improved future prediction.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TCN learned weekly disease trends best.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Predictions support early medicine demand planning.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County trends help regional supply decisions.</a:t>
            </a:r>
          </a:p>
        </p:txBody>
      </p:sp>
    </p:spTree>
    <p:extLst>
      <p:ext uri="{BB962C8B-B14F-4D97-AF65-F5344CB8AC3E}">
        <p14:creationId xmlns:p14="http://schemas.microsoft.com/office/powerpoint/2010/main" val="19124179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9BDD68-C1C7-EE35-7097-524FB9AC1B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034ED6-D125-E084-F670-92C500FCB8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complete disease prediction pipeline was developed from raw data to final model comparison.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CDC disease records were combined with Census population and BEA income data.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compared Bayesian, temporal, and hybrid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modeling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approaches.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TCN achieved the best performance by learning weekly disease patterns.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final model supports earlier drug demand and manufacturing planning.</a:t>
            </a:r>
          </a:p>
        </p:txBody>
      </p:sp>
    </p:spTree>
    <p:extLst>
      <p:ext uri="{BB962C8B-B14F-4D97-AF65-F5344CB8AC3E}">
        <p14:creationId xmlns:p14="http://schemas.microsoft.com/office/powerpoint/2010/main" val="6026233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66B332A4-D438-4773-A77F-5ED49A448D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53768" y="0"/>
            <a:ext cx="8284464" cy="6858000"/>
          </a:xfrm>
          <a:custGeom>
            <a:avLst/>
            <a:gdLst>
              <a:gd name="connsiteX0" fmla="*/ 1818109 w 8284464"/>
              <a:gd name="connsiteY0" fmla="*/ 0 h 6858000"/>
              <a:gd name="connsiteX1" fmla="*/ 6466355 w 8284464"/>
              <a:gd name="connsiteY1" fmla="*/ 0 h 6858000"/>
              <a:gd name="connsiteX2" fmla="*/ 6620596 w 8284464"/>
              <a:gd name="connsiteY2" fmla="*/ 109683 h 6858000"/>
              <a:gd name="connsiteX3" fmla="*/ 8284464 w 8284464"/>
              <a:gd name="connsiteY3" fmla="*/ 3429000 h 6858000"/>
              <a:gd name="connsiteX4" fmla="*/ 6620596 w 8284464"/>
              <a:gd name="connsiteY4" fmla="*/ 6748318 h 6858000"/>
              <a:gd name="connsiteX5" fmla="*/ 6466355 w 8284464"/>
              <a:gd name="connsiteY5" fmla="*/ 6858000 h 6858000"/>
              <a:gd name="connsiteX6" fmla="*/ 1818109 w 8284464"/>
              <a:gd name="connsiteY6" fmla="*/ 6858000 h 6858000"/>
              <a:gd name="connsiteX7" fmla="*/ 1663869 w 8284464"/>
              <a:gd name="connsiteY7" fmla="*/ 6748318 h 6858000"/>
              <a:gd name="connsiteX8" fmla="*/ 0 w 8284464"/>
              <a:gd name="connsiteY8" fmla="*/ 3429000 h 6858000"/>
              <a:gd name="connsiteX9" fmla="*/ 1663869 w 8284464"/>
              <a:gd name="connsiteY9" fmla="*/ 10968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284464" h="6858000">
                <a:moveTo>
                  <a:pt x="1818109" y="0"/>
                </a:moveTo>
                <a:lnTo>
                  <a:pt x="6466355" y="0"/>
                </a:lnTo>
                <a:lnTo>
                  <a:pt x="6620596" y="109683"/>
                </a:lnTo>
                <a:cubicBezTo>
                  <a:pt x="7630666" y="865069"/>
                  <a:pt x="8284464" y="2070683"/>
                  <a:pt x="8284464" y="3429000"/>
                </a:cubicBezTo>
                <a:cubicBezTo>
                  <a:pt x="8284464" y="4787317"/>
                  <a:pt x="7630666" y="5992931"/>
                  <a:pt x="6620596" y="6748318"/>
                </a:cubicBezTo>
                <a:lnTo>
                  <a:pt x="6466355" y="6858000"/>
                </a:lnTo>
                <a:lnTo>
                  <a:pt x="1818109" y="6858000"/>
                </a:lnTo>
                <a:lnTo>
                  <a:pt x="1663869" y="6748318"/>
                </a:lnTo>
                <a:cubicBezTo>
                  <a:pt x="653798" y="5992931"/>
                  <a:pt x="0" y="4787317"/>
                  <a:pt x="0" y="3429000"/>
                </a:cubicBezTo>
                <a:cubicBezTo>
                  <a:pt x="0" y="2070683"/>
                  <a:pt x="653798" y="865069"/>
                  <a:pt x="1663869" y="109683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DF9AD32D-FF05-44F4-BD4D-9CEE89B71E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118360" y="0"/>
            <a:ext cx="7955280" cy="6858000"/>
          </a:xfrm>
          <a:custGeom>
            <a:avLst/>
            <a:gdLst>
              <a:gd name="connsiteX0" fmla="*/ 1962423 w 7955280"/>
              <a:gd name="connsiteY0" fmla="*/ 0 h 6858000"/>
              <a:gd name="connsiteX1" fmla="*/ 5992858 w 7955280"/>
              <a:gd name="connsiteY1" fmla="*/ 0 h 6858000"/>
              <a:gd name="connsiteX2" fmla="*/ 6040191 w 7955280"/>
              <a:gd name="connsiteY2" fmla="*/ 27216 h 6858000"/>
              <a:gd name="connsiteX3" fmla="*/ 7955280 w 7955280"/>
              <a:gd name="connsiteY3" fmla="*/ 3429000 h 6858000"/>
              <a:gd name="connsiteX4" fmla="*/ 6040191 w 7955280"/>
              <a:gd name="connsiteY4" fmla="*/ 6830784 h 6858000"/>
              <a:gd name="connsiteX5" fmla="*/ 5992858 w 7955280"/>
              <a:gd name="connsiteY5" fmla="*/ 6858000 h 6858000"/>
              <a:gd name="connsiteX6" fmla="*/ 1962423 w 7955280"/>
              <a:gd name="connsiteY6" fmla="*/ 6858000 h 6858000"/>
              <a:gd name="connsiteX7" fmla="*/ 1915089 w 7955280"/>
              <a:gd name="connsiteY7" fmla="*/ 6830784 h 6858000"/>
              <a:gd name="connsiteX8" fmla="*/ 0 w 7955280"/>
              <a:gd name="connsiteY8" fmla="*/ 3429000 h 6858000"/>
              <a:gd name="connsiteX9" fmla="*/ 1915089 w 7955280"/>
              <a:gd name="connsiteY9" fmla="*/ 2721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955280" h="6858000">
                <a:moveTo>
                  <a:pt x="1962423" y="0"/>
                </a:moveTo>
                <a:lnTo>
                  <a:pt x="5992858" y="0"/>
                </a:lnTo>
                <a:lnTo>
                  <a:pt x="6040191" y="27216"/>
                </a:lnTo>
                <a:cubicBezTo>
                  <a:pt x="7188332" y="724844"/>
                  <a:pt x="7955280" y="1987357"/>
                  <a:pt x="7955280" y="3429000"/>
                </a:cubicBezTo>
                <a:cubicBezTo>
                  <a:pt x="7955280" y="4870644"/>
                  <a:pt x="7188332" y="6133157"/>
                  <a:pt x="6040191" y="6830784"/>
                </a:cubicBezTo>
                <a:lnTo>
                  <a:pt x="5992858" y="6858000"/>
                </a:lnTo>
                <a:lnTo>
                  <a:pt x="1962423" y="6858000"/>
                </a:lnTo>
                <a:lnTo>
                  <a:pt x="1915089" y="6830784"/>
                </a:lnTo>
                <a:cubicBezTo>
                  <a:pt x="766948" y="6133157"/>
                  <a:pt x="0" y="4870644"/>
                  <a:pt x="0" y="3429000"/>
                </a:cubicBezTo>
                <a:cubicBezTo>
                  <a:pt x="0" y="1987357"/>
                  <a:pt x="766948" y="724844"/>
                  <a:pt x="1915089" y="27216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E8C715C-6FEE-ADD4-83F0-ECFAA69AE0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55631" y="1441938"/>
            <a:ext cx="7080738" cy="397412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5400">
                <a:solidFill>
                  <a:schemeClr val="bg1">
                    <a:lumMod val="95000"/>
                    <a:lumOff val="5000"/>
                  </a:schemeClr>
                </a:solidFill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22836600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8186</TotalTime>
  <Words>607</Words>
  <Application>Microsoft Office PowerPoint</Application>
  <PresentationFormat>Widescreen</PresentationFormat>
  <Paragraphs>120</Paragraphs>
  <Slides>15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Aptos</vt:lpstr>
      <vt:lpstr>Aptos Display</vt:lpstr>
      <vt:lpstr>Arial</vt:lpstr>
      <vt:lpstr>Times New Roman</vt:lpstr>
      <vt:lpstr>Office Theme</vt:lpstr>
      <vt:lpstr>NETWORK MODELING FOR  INFECTIOUS DISEASE SPREAD </vt:lpstr>
      <vt:lpstr>INTRODUCTION </vt:lpstr>
      <vt:lpstr>PROBLEM STATEMENT </vt:lpstr>
      <vt:lpstr>DATA SOURCES </vt:lpstr>
      <vt:lpstr>DATA CLEANING AND MERGING </vt:lpstr>
      <vt:lpstr>DATA PREPROCESSING</vt:lpstr>
      <vt:lpstr>EXPLORATORY DATA ANALYSIS </vt:lpstr>
      <vt:lpstr>FEATURE ENGINEERING </vt:lpstr>
      <vt:lpstr>Gaussian Bayesian Model</vt:lpstr>
      <vt:lpstr>Temporal Convolutional  Network (TCN) </vt:lpstr>
      <vt:lpstr>Hybrid TCN–Spatial–GBN Model</vt:lpstr>
      <vt:lpstr>Model Performance Comparison</vt:lpstr>
      <vt:lpstr>Key Findings and Manufacturing Relevance</vt:lpstr>
      <vt:lpstr>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ankith reddy</dc:creator>
  <cp:lastModifiedBy>ankith reddy</cp:lastModifiedBy>
  <cp:revision>5</cp:revision>
  <dcterms:created xsi:type="dcterms:W3CDTF">2026-06-20T17:40:45Z</dcterms:created>
  <dcterms:modified xsi:type="dcterms:W3CDTF">2026-06-27T22:38:12Z</dcterms:modified>
</cp:coreProperties>
</file>